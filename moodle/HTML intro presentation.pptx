
<file path=[Content_Types].xml><?xml version="1.0" encoding="utf-8"?>
<Types xmlns="http://schemas.openxmlformats.org/package/2006/content-types">
  <Override PartName="/_rels/.rels" ContentType="application/vnd.openxmlformats-package.relationshi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media/image13.jpeg" ContentType="image/jpeg"/>
  <Override PartName="/ppt/media/image12.jpeg" ContentType="image/jpeg"/>
  <Override PartName="/ppt/media/image11.jpeg" ContentType="image/jpeg"/>
  <Override PartName="/ppt/media/image10.jpeg" ContentType="image/jpeg"/>
  <Override PartName="/ppt/media/image9.jpeg" ContentType="image/jpeg"/>
  <Override PartName="/ppt/media/image8.jpeg" ContentType="image/jpeg"/>
  <Override PartName="/ppt/media/image7.jpeg" ContentType="image/jpeg"/>
  <Override PartName="/ppt/media/image2.jpeg" ContentType="image/jpeg"/>
  <Override PartName="/ppt/media/image1.jpeg" ContentType="image/jpeg"/>
  <Override PartName="/ppt/media/image3.jpeg" ContentType="image/jpeg"/>
  <Override PartName="/ppt/media/image4.jpeg" ContentType="image/jpeg"/>
  <Override PartName="/ppt/media/image5.jpeg" ContentType="image/jpeg"/>
  <Override PartName="/ppt/media/image6.jpeg" ContentType="image/jpeg"/>
  <Override PartName="/ppt/slideMasters/_rels/slideMaster1.xml.rels" ContentType="application/vnd.openxmlformats-package.relationships+xml"/>
  <Override PartName="/ppt/slideMasters/slideMaster1.xml" ContentType="application/vnd.openxmlformats-officedocument.presentationml.slideMaster+xml"/>
  <Override PartName="/ppt/presentation.xml" ContentType="application/vnd.openxmlformats-officedocument.presentationml.presentation.main+xml"/>
  <Override PartName="/ppt/theme/theme1.xml" ContentType="application/vnd.openxmlformats-officedocument.them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p:spPr>
        <p:txBody>
          <a:bodyPr lIns="0" rIns="0" tIns="0" bIns="0" anchor="ctr"/>
          <a:p>
            <a:pPr algn="ctr"/>
            <a:endParaRPr b="0" lang="en-GB"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5" name="PlaceHolder 2"/>
          <p:cNvSpPr>
            <a:spLocks noGrp="1"/>
          </p:cNvSpPr>
          <p:nvPr>
            <p:ph type="body"/>
          </p:nvPr>
        </p:nvSpPr>
        <p:spPr>
          <a:xfrm>
            <a:off x="457200" y="1203480"/>
            <a:ext cx="8229240" cy="298296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7" name="PlaceHolder 2"/>
          <p:cNvSpPr>
            <a:spLocks noGrp="1"/>
          </p:cNvSpPr>
          <p:nvPr>
            <p:ph type="body"/>
          </p:nvPr>
        </p:nvSpPr>
        <p:spPr>
          <a:xfrm>
            <a:off x="457200" y="1203480"/>
            <a:ext cx="4015800" cy="298296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8" name="PlaceHolder 3"/>
          <p:cNvSpPr>
            <a:spLocks noGrp="1"/>
          </p:cNvSpPr>
          <p:nvPr>
            <p:ph type="body"/>
          </p:nvPr>
        </p:nvSpPr>
        <p:spPr>
          <a:xfrm>
            <a:off x="4674240" y="1203480"/>
            <a:ext cx="4015800" cy="298296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p:spPr>
        <p:txBody>
          <a:bodyPr lIns="0" rIns="0" tIns="0" bIns="0" anchor="ctr"/>
          <a:p>
            <a:pPr algn="ctr"/>
            <a:endParaRPr b="0" lang="en-GB"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12" name="PlaceHolder 2"/>
          <p:cNvSpPr>
            <a:spLocks noGrp="1"/>
          </p:cNvSpPr>
          <p:nvPr>
            <p:ph type="body"/>
          </p:nvPr>
        </p:nvSpPr>
        <p:spPr>
          <a:xfrm>
            <a:off x="45720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13" name="PlaceHolder 3"/>
          <p:cNvSpPr>
            <a:spLocks noGrp="1"/>
          </p:cNvSpPr>
          <p:nvPr>
            <p:ph type="body"/>
          </p:nvPr>
        </p:nvSpPr>
        <p:spPr>
          <a:xfrm>
            <a:off x="4674240" y="1203480"/>
            <a:ext cx="4015800" cy="298296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14" name="PlaceHolder 4"/>
          <p:cNvSpPr>
            <a:spLocks noGrp="1"/>
          </p:cNvSpPr>
          <p:nvPr>
            <p:ph type="body"/>
          </p:nvPr>
        </p:nvSpPr>
        <p:spPr>
          <a:xfrm>
            <a:off x="457200" y="276192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16" name="PlaceHolder 2"/>
          <p:cNvSpPr>
            <a:spLocks noGrp="1"/>
          </p:cNvSpPr>
          <p:nvPr>
            <p:ph type="body"/>
          </p:nvPr>
        </p:nvSpPr>
        <p:spPr>
          <a:xfrm>
            <a:off x="457200" y="1203480"/>
            <a:ext cx="4015800" cy="298296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17" name="PlaceHolder 3"/>
          <p:cNvSpPr>
            <a:spLocks noGrp="1"/>
          </p:cNvSpPr>
          <p:nvPr>
            <p:ph type="body"/>
          </p:nvPr>
        </p:nvSpPr>
        <p:spPr>
          <a:xfrm>
            <a:off x="467424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18" name="PlaceHolder 4"/>
          <p:cNvSpPr>
            <a:spLocks noGrp="1"/>
          </p:cNvSpPr>
          <p:nvPr>
            <p:ph type="body"/>
          </p:nvPr>
        </p:nvSpPr>
        <p:spPr>
          <a:xfrm>
            <a:off x="4674240" y="276192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20" name="PlaceHolder 2"/>
          <p:cNvSpPr>
            <a:spLocks noGrp="1"/>
          </p:cNvSpPr>
          <p:nvPr>
            <p:ph type="body"/>
          </p:nvPr>
        </p:nvSpPr>
        <p:spPr>
          <a:xfrm>
            <a:off x="45720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21" name="PlaceHolder 3"/>
          <p:cNvSpPr>
            <a:spLocks noGrp="1"/>
          </p:cNvSpPr>
          <p:nvPr>
            <p:ph type="body"/>
          </p:nvPr>
        </p:nvSpPr>
        <p:spPr>
          <a:xfrm>
            <a:off x="467424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22" name="PlaceHolder 4"/>
          <p:cNvSpPr>
            <a:spLocks noGrp="1"/>
          </p:cNvSpPr>
          <p:nvPr>
            <p:ph type="body"/>
          </p:nvPr>
        </p:nvSpPr>
        <p:spPr>
          <a:xfrm>
            <a:off x="457200" y="2761920"/>
            <a:ext cx="822924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24" name="PlaceHolder 2"/>
          <p:cNvSpPr>
            <a:spLocks noGrp="1"/>
          </p:cNvSpPr>
          <p:nvPr>
            <p:ph type="body"/>
          </p:nvPr>
        </p:nvSpPr>
        <p:spPr>
          <a:xfrm>
            <a:off x="457200" y="1203480"/>
            <a:ext cx="822924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25" name="PlaceHolder 3"/>
          <p:cNvSpPr>
            <a:spLocks noGrp="1"/>
          </p:cNvSpPr>
          <p:nvPr>
            <p:ph type="body"/>
          </p:nvPr>
        </p:nvSpPr>
        <p:spPr>
          <a:xfrm>
            <a:off x="457200" y="2761920"/>
            <a:ext cx="822924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27" name="PlaceHolder 2"/>
          <p:cNvSpPr>
            <a:spLocks noGrp="1"/>
          </p:cNvSpPr>
          <p:nvPr>
            <p:ph type="body"/>
          </p:nvPr>
        </p:nvSpPr>
        <p:spPr>
          <a:xfrm>
            <a:off x="45720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28" name="PlaceHolder 3"/>
          <p:cNvSpPr>
            <a:spLocks noGrp="1"/>
          </p:cNvSpPr>
          <p:nvPr>
            <p:ph type="body"/>
          </p:nvPr>
        </p:nvSpPr>
        <p:spPr>
          <a:xfrm>
            <a:off x="4674240" y="120348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29" name="PlaceHolder 4"/>
          <p:cNvSpPr>
            <a:spLocks noGrp="1"/>
          </p:cNvSpPr>
          <p:nvPr>
            <p:ph type="body"/>
          </p:nvPr>
        </p:nvSpPr>
        <p:spPr>
          <a:xfrm>
            <a:off x="457200" y="276192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0" name="PlaceHolder 5"/>
          <p:cNvSpPr>
            <a:spLocks noGrp="1"/>
          </p:cNvSpPr>
          <p:nvPr>
            <p:ph type="body"/>
          </p:nvPr>
        </p:nvSpPr>
        <p:spPr>
          <a:xfrm>
            <a:off x="4674240" y="2761920"/>
            <a:ext cx="40158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p:spPr>
        <p:txBody>
          <a:bodyPr lIns="0" rIns="0" tIns="0" bIns="0" anchor="ctr"/>
          <a:p>
            <a:endParaRPr b="0" lang="fr-FR" sz="1800" spc="-1" strike="noStrike">
              <a:solidFill>
                <a:srgbClr val="000000"/>
              </a:solidFill>
              <a:latin typeface="Calibri"/>
            </a:endParaRPr>
          </a:p>
        </p:txBody>
      </p:sp>
      <p:sp>
        <p:nvSpPr>
          <p:cNvPr id="32" name="PlaceHolder 2"/>
          <p:cNvSpPr>
            <a:spLocks noGrp="1"/>
          </p:cNvSpPr>
          <p:nvPr>
            <p:ph type="body"/>
          </p:nvPr>
        </p:nvSpPr>
        <p:spPr>
          <a:xfrm>
            <a:off x="457200" y="120348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3" name="PlaceHolder 3"/>
          <p:cNvSpPr>
            <a:spLocks noGrp="1"/>
          </p:cNvSpPr>
          <p:nvPr>
            <p:ph type="body"/>
          </p:nvPr>
        </p:nvSpPr>
        <p:spPr>
          <a:xfrm>
            <a:off x="3239640" y="120348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4" name="PlaceHolder 4"/>
          <p:cNvSpPr>
            <a:spLocks noGrp="1"/>
          </p:cNvSpPr>
          <p:nvPr>
            <p:ph type="body"/>
          </p:nvPr>
        </p:nvSpPr>
        <p:spPr>
          <a:xfrm>
            <a:off x="6022080" y="120348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5" name="PlaceHolder 5"/>
          <p:cNvSpPr>
            <a:spLocks noGrp="1"/>
          </p:cNvSpPr>
          <p:nvPr>
            <p:ph type="body"/>
          </p:nvPr>
        </p:nvSpPr>
        <p:spPr>
          <a:xfrm>
            <a:off x="457200" y="276192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6" name="PlaceHolder 6"/>
          <p:cNvSpPr>
            <a:spLocks noGrp="1"/>
          </p:cNvSpPr>
          <p:nvPr>
            <p:ph type="body"/>
          </p:nvPr>
        </p:nvSpPr>
        <p:spPr>
          <a:xfrm>
            <a:off x="3239640" y="276192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
        <p:nvSpPr>
          <p:cNvPr id="37" name="PlaceHolder 7"/>
          <p:cNvSpPr>
            <a:spLocks noGrp="1"/>
          </p:cNvSpPr>
          <p:nvPr>
            <p:ph type="body"/>
          </p:nvPr>
        </p:nvSpPr>
        <p:spPr>
          <a:xfrm>
            <a:off x="6022080" y="2761920"/>
            <a:ext cx="2649600" cy="1422720"/>
          </a:xfrm>
          <a:prstGeom prst="rect">
            <a:avLst/>
          </a:prstGeom>
        </p:spPr>
        <p:txBody>
          <a:bodyPr lIns="0" rIns="0" tIns="0" bIns="0">
            <a:normAutofit/>
          </a:bodyPr>
          <a:p>
            <a:pPr algn="ctr">
              <a:spcBef>
                <a:spcPts val="1417"/>
              </a:spcBef>
            </a:pPr>
            <a:endParaRPr b="0" lang="fr-FR"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p:spPr>
        <p:txBody>
          <a:bodyPr lIns="0" rIns="0" tIns="0" bIns="0" anchor="ctr"/>
          <a:p>
            <a:r>
              <a:rPr b="0" lang="fr-FR" sz="1800" spc="-1" strike="noStrike">
                <a:solidFill>
                  <a:srgbClr val="000000"/>
                </a:solidFill>
                <a:latin typeface="Calibri"/>
              </a:rPr>
              <a:t>Click to edit the title text format</a:t>
            </a:r>
            <a:endParaRPr b="0" lang="fr-FR"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p:spPr>
        <p:txBody>
          <a:bodyPr lIns="0" rIns="0" tIns="0" bIns="0">
            <a:normAutofit/>
          </a:bodyPr>
          <a:p>
            <a:pPr marL="432000" indent="-324000" algn="ctr">
              <a:spcBef>
                <a:spcPts val="1417"/>
              </a:spcBef>
              <a:buClr>
                <a:srgbClr val="000000"/>
              </a:buClr>
              <a:buSzPct val="45000"/>
              <a:buFont typeface="Wingdings" charset="2"/>
              <a:buChar char=""/>
            </a:pPr>
            <a:r>
              <a:rPr b="0" lang="fr-FR" sz="3200" spc="-1" strike="noStrike">
                <a:solidFill>
                  <a:srgbClr val="000000"/>
                </a:solidFill>
                <a:latin typeface="Calibri"/>
              </a:rPr>
              <a:t>Click to edit the outline text format</a:t>
            </a:r>
            <a:endParaRPr b="0" lang="fr-FR"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Calibri"/>
              </a:rPr>
              <a:t>Second Outline Level</a:t>
            </a:r>
            <a:endParaRPr b="0" lang="fr-FR"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Calibri"/>
              </a:rPr>
              <a:t>Third Outline Level</a:t>
            </a:r>
            <a:endParaRPr b="0" lang="fr-FR"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Calibri"/>
              </a:rPr>
              <a:t>Fourth Outline Level</a:t>
            </a:r>
            <a:endParaRPr b="0" lang="fr-FR"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Calibri"/>
              </a:rPr>
              <a:t>Fifth Outline Level</a:t>
            </a:r>
            <a:endParaRPr b="0" lang="fr-FR"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Calibri"/>
              </a:rPr>
              <a:t>Sixth Outline Level</a:t>
            </a:r>
            <a:endParaRPr b="0" lang="fr-FR"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Calibri"/>
              </a:rPr>
              <a:t>Seventh Outline Level</a:t>
            </a:r>
            <a:endParaRPr b="0" lang="fr-FR"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a:stretch>
        </a:blipFill>
      </p:bgPr>
    </p:bg>
    <p:spTree>
      <p:nvGrpSpPr>
        <p:cNvPr id="1" name=""/>
        <p:cNvGrpSpPr/>
        <p:nvPr/>
      </p:nvGrpSpPr>
      <p:grpSpPr>
        <a:xfrm>
          <a:off x="0" y="0"/>
          <a:ext cx="0" cy="0"/>
          <a:chOff x="0" y="0"/>
          <a:chExt cx="0" cy="0"/>
        </a:xfrm>
      </p:grpSpPr>
      <p:sp>
        <p:nvSpPr>
          <p:cNvPr id="38" name="CustomShape 1"/>
          <p:cNvSpPr/>
          <p:nvPr/>
        </p:nvSpPr>
        <p:spPr>
          <a:xfrm>
            <a:off x="1523880" y="1794240"/>
            <a:ext cx="6095520" cy="1554480"/>
          </a:xfrm>
          <a:prstGeom prst="rect">
            <a:avLst/>
          </a:prstGeom>
          <a:noFill/>
          <a:ln>
            <a:noFill/>
          </a:ln>
        </p:spPr>
        <p:style>
          <a:lnRef idx="0"/>
          <a:fillRef idx="0"/>
          <a:effectRef idx="0"/>
          <a:fontRef idx="minor"/>
        </p:style>
        <p:txBody>
          <a:bodyPr anchor="ctr"/>
          <a:p>
            <a:pPr algn="ctr">
              <a:lnSpc>
                <a:spcPct val="100000"/>
              </a:lnSpc>
            </a:pPr>
            <a:r>
              <a:rPr b="1" lang="en-GB" sz="4800" spc="-1" strike="noStrike">
                <a:solidFill>
                  <a:srgbClr val="ffffff"/>
                </a:solidFill>
                <a:latin typeface="Arial"/>
              </a:rPr>
              <a:t>Introduction To Html</a:t>
            </a:r>
            <a:endParaRPr b="0" lang="en-GB" sz="4800" spc="-1" strike="noStrike">
              <a:latin typeface="Arial"/>
            </a:endParaRPr>
          </a:p>
        </p:txBody>
      </p:sp>
      <p:sp>
        <p:nvSpPr>
          <p:cNvPr id="39" name="CustomShape 2"/>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ffffff"/>
                </a:solidFill>
                <a:latin typeface="Arial"/>
              </a:rPr>
              <a:t>Image By Lukas</a:t>
            </a:r>
            <a:endParaRPr b="0" lang="en-GB" sz="1000" spc="-1" strike="noStrike">
              <a:latin typeface="Arial"/>
            </a:endParaRPr>
          </a:p>
          <a:p>
            <a:pPr>
              <a:lnSpc>
                <a:spcPct val="100000"/>
              </a:lnSpc>
            </a:pPr>
            <a:r>
              <a:rPr b="0" lang="en-GB" sz="1000" spc="-1" strike="noStrike">
                <a:solidFill>
                  <a:srgbClr val="ffffff"/>
                </a:solidFill>
                <a:latin typeface="Arial"/>
              </a:rPr>
              <a:t>https://www.pexels.com/@goumbik</a:t>
            </a:r>
            <a:endParaRPr b="0" lang="en-GB" sz="1000" spc="-1" strike="noStrike">
              <a:latin typeface="Arial"/>
            </a:endParaRPr>
          </a:p>
        </p:txBody>
      </p:sp>
    </p:spTree>
  </p:cSld>
  <p:transition spd="slow">
    <p:circle/>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 descr=""/>
          <p:cNvPicPr/>
          <p:nvPr/>
        </p:nvPicPr>
        <p:blipFill>
          <a:blip r:embed="rId1"/>
          <a:stretch/>
        </p:blipFill>
        <p:spPr>
          <a:xfrm>
            <a:off x="7429680" y="0"/>
            <a:ext cx="3428640" cy="5143320"/>
          </a:xfrm>
          <a:prstGeom prst="rect">
            <a:avLst/>
          </a:prstGeom>
          <a:ln>
            <a:noFill/>
          </a:ln>
        </p:spPr>
      </p:pic>
      <p:sp>
        <p:nvSpPr>
          <p:cNvPr id="41" name="CustomShape 1"/>
          <p:cNvSpPr/>
          <p:nvPr/>
        </p:nvSpPr>
        <p:spPr>
          <a:xfrm>
            <a:off x="571680" y="285840"/>
            <a:ext cx="457164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What is HTML?</a:t>
            </a:r>
            <a:endParaRPr b="0" lang="en-GB" sz="3200" spc="-1" strike="noStrike">
              <a:latin typeface="Arial"/>
            </a:endParaRPr>
          </a:p>
        </p:txBody>
      </p:sp>
      <p:sp>
        <p:nvSpPr>
          <p:cNvPr id="42" name="CustomShape 2"/>
          <p:cNvSpPr/>
          <p:nvPr/>
        </p:nvSpPr>
        <p:spPr>
          <a:xfrm>
            <a:off x="571680" y="1428840"/>
            <a:ext cx="4571640" cy="155124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HTML (Hypertext Markup Language) is the standard markup language used to create web pages. It defines the structure and layout of a webpage by using various elements and tags. HTML code can be viewed in a web browser and is the backbone of every web page.</a:t>
            </a:r>
            <a:endParaRPr b="0" lang="en-GB" sz="1600" spc="-1" strike="noStrike">
              <a:latin typeface="Arial"/>
            </a:endParaRPr>
          </a:p>
        </p:txBody>
      </p:sp>
      <p:sp>
        <p:nvSpPr>
          <p:cNvPr id="43"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Mathias Reding</a:t>
            </a:r>
            <a:endParaRPr b="0" lang="en-GB" sz="1000" spc="-1" strike="noStrike">
              <a:latin typeface="Arial"/>
            </a:endParaRPr>
          </a:p>
          <a:p>
            <a:pPr>
              <a:lnSpc>
                <a:spcPct val="100000"/>
              </a:lnSpc>
            </a:pPr>
            <a:r>
              <a:rPr b="0" lang="en-GB" sz="1000" spc="-1" strike="noStrike">
                <a:solidFill>
                  <a:srgbClr val="000000"/>
                </a:solidFill>
                <a:latin typeface="Arial"/>
              </a:rPr>
              <a:t>https://www.pexels.com/@matreding</a:t>
            </a:r>
            <a:endParaRPr b="0" lang="en-GB" sz="1000" spc="-1" strike="noStrike">
              <a:latin typeface="Arial"/>
            </a:endParaRPr>
          </a:p>
        </p:txBody>
      </p:sp>
    </p:spTree>
  </p:cSld>
  <p:transition spd="slow">
    <p:checker dir="horz"/>
  </p:transition>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 name="" descr=""/>
          <p:cNvPicPr/>
          <p:nvPr/>
        </p:nvPicPr>
        <p:blipFill>
          <a:blip r:embed="rId1"/>
          <a:stretch/>
        </p:blipFill>
        <p:spPr>
          <a:xfrm>
            <a:off x="0" y="3857760"/>
            <a:ext cx="9143640" cy="4781160"/>
          </a:xfrm>
          <a:prstGeom prst="rect">
            <a:avLst/>
          </a:prstGeom>
          <a:ln>
            <a:noFill/>
          </a:ln>
        </p:spPr>
      </p:pic>
      <p:sp>
        <p:nvSpPr>
          <p:cNvPr id="45" name="CustomShape 1"/>
          <p:cNvSpPr/>
          <p:nvPr/>
        </p:nvSpPr>
        <p:spPr>
          <a:xfrm>
            <a:off x="571680" y="285840"/>
            <a:ext cx="828648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HTML Structure</a:t>
            </a:r>
            <a:endParaRPr b="0" lang="en-GB" sz="3200" spc="-1" strike="noStrike">
              <a:latin typeface="Arial"/>
            </a:endParaRPr>
          </a:p>
        </p:txBody>
      </p:sp>
      <p:sp>
        <p:nvSpPr>
          <p:cNvPr id="46" name="CustomShape 2"/>
          <p:cNvSpPr/>
          <p:nvPr/>
        </p:nvSpPr>
        <p:spPr>
          <a:xfrm>
            <a:off x="571680" y="1428840"/>
            <a:ext cx="8286480" cy="203868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HTML documents consist of several elements, such as the &lt;html&gt;, &lt;head&gt;, and &lt;body&gt; tags. The &lt;html&gt; tag represents the root of an HTML document, while the &lt;head&gt; tag contains metadata about the document. The &lt;body&gt; tag holds the visible content of the webpage. By incorporating these elements correctly, you can create a well-structured HTML document.</a:t>
            </a:r>
            <a:endParaRPr b="0" lang="en-GB" sz="1600" spc="-1" strike="noStrike">
              <a:latin typeface="Arial"/>
            </a:endParaRPr>
          </a:p>
          <a:p>
            <a:pPr>
              <a:lnSpc>
                <a:spcPct val="100000"/>
              </a:lnSpc>
            </a:pPr>
            <a:endParaRPr b="0" lang="en-GB" sz="1600" spc="-1" strike="noStrike">
              <a:latin typeface="Arial"/>
            </a:endParaRPr>
          </a:p>
          <a:p>
            <a:pPr>
              <a:lnSpc>
                <a:spcPct val="100000"/>
              </a:lnSpc>
            </a:pPr>
            <a:endParaRPr b="0" lang="en-GB" sz="1600" spc="-1" strike="noStrike">
              <a:latin typeface="Arial"/>
            </a:endParaRPr>
          </a:p>
          <a:p>
            <a:pPr>
              <a:lnSpc>
                <a:spcPct val="100000"/>
              </a:lnSpc>
            </a:pPr>
            <a:endParaRPr b="0" lang="en-GB" sz="1600" spc="-1" strike="noStrike">
              <a:latin typeface="Arial"/>
            </a:endParaRPr>
          </a:p>
        </p:txBody>
      </p:sp>
      <p:sp>
        <p:nvSpPr>
          <p:cNvPr id="47"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Markus Spiske</a:t>
            </a:r>
            <a:endParaRPr b="0" lang="en-GB" sz="1000" spc="-1" strike="noStrike">
              <a:latin typeface="Arial"/>
            </a:endParaRPr>
          </a:p>
          <a:p>
            <a:pPr>
              <a:lnSpc>
                <a:spcPct val="100000"/>
              </a:lnSpc>
            </a:pPr>
            <a:r>
              <a:rPr b="0" lang="en-GB" sz="1000" spc="-1" strike="noStrike">
                <a:solidFill>
                  <a:srgbClr val="000000"/>
                </a:solidFill>
                <a:latin typeface="Arial"/>
              </a:rPr>
              <a:t>https://www.pexels.com/@markusspiske</a:t>
            </a:r>
            <a:endParaRPr b="0" lang="en-GB" sz="1000" spc="-1" strike="noStrike">
              <a:latin typeface="Arial"/>
            </a:endParaRPr>
          </a:p>
        </p:txBody>
      </p:sp>
    </p:spTree>
  </p:cSld>
  <p:transition spd="slow">
    <p:randomBar dir="vert"/>
  </p:transition>
  <p:timing>
    <p:tnLst>
      <p:par>
        <p:cTn id="5" dur="indefinite" restart="never" nodeType="tmRoot">
          <p:childTnLst>
            <p:seq>
              <p:cTn id="6" dur="indefinite"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1"/>
          <a:stretch/>
        </p:blipFill>
        <p:spPr>
          <a:xfrm>
            <a:off x="0" y="3857760"/>
            <a:ext cx="9143640" cy="4781160"/>
          </a:xfrm>
          <a:prstGeom prst="rect">
            <a:avLst/>
          </a:prstGeom>
          <a:ln>
            <a:noFill/>
          </a:ln>
        </p:spPr>
      </p:pic>
      <p:sp>
        <p:nvSpPr>
          <p:cNvPr id="49" name="CustomShape 1"/>
          <p:cNvSpPr/>
          <p:nvPr/>
        </p:nvSpPr>
        <p:spPr>
          <a:xfrm>
            <a:off x="571680" y="285840"/>
            <a:ext cx="828648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What is a tag?</a:t>
            </a:r>
            <a:endParaRPr b="0" lang="en-GB" sz="3200" spc="-1" strike="noStrike">
              <a:latin typeface="Arial"/>
            </a:endParaRPr>
          </a:p>
        </p:txBody>
      </p:sp>
      <p:sp>
        <p:nvSpPr>
          <p:cNvPr id="50" name="CustomShape 2"/>
          <p:cNvSpPr/>
          <p:nvPr/>
        </p:nvSpPr>
        <p:spPr>
          <a:xfrm>
            <a:off x="571680" y="1428840"/>
            <a:ext cx="8286480" cy="179460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Tags surround the content to be formatted. There must be a closing tag (using a /) for every opening tag.</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For 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&lt;p&gt;This is a paragraph&lt;/p&gt;</a:t>
            </a:r>
            <a:endParaRPr b="0" lang="en-GB" sz="1600" spc="-1" strike="noStrike">
              <a:latin typeface="Arial"/>
            </a:endParaRPr>
          </a:p>
          <a:p>
            <a:pPr>
              <a:lnSpc>
                <a:spcPct val="100000"/>
              </a:lnSpc>
            </a:pPr>
            <a:r>
              <a:rPr b="0" lang="en-GB" sz="1600" spc="-1" strike="noStrike">
                <a:solidFill>
                  <a:srgbClr val="000000"/>
                </a:solidFill>
                <a:latin typeface="Arial"/>
              </a:rPr>
              <a:t>&lt;p&gt;This is another paragraph&lt;/p&gt;</a:t>
            </a:r>
            <a:endParaRPr b="0" lang="en-GB" sz="1600" spc="-1" strike="noStrike">
              <a:latin typeface="Arial"/>
            </a:endParaRPr>
          </a:p>
        </p:txBody>
      </p:sp>
      <p:sp>
        <p:nvSpPr>
          <p:cNvPr id="51"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Markus Spiske</a:t>
            </a:r>
            <a:endParaRPr b="0" lang="en-GB" sz="1000" spc="-1" strike="noStrike">
              <a:latin typeface="Arial"/>
            </a:endParaRPr>
          </a:p>
          <a:p>
            <a:pPr>
              <a:lnSpc>
                <a:spcPct val="100000"/>
              </a:lnSpc>
            </a:pPr>
            <a:r>
              <a:rPr b="0" lang="en-GB" sz="1000" spc="-1" strike="noStrike">
                <a:solidFill>
                  <a:srgbClr val="000000"/>
                </a:solidFill>
                <a:latin typeface="Arial"/>
              </a:rPr>
              <a:t>https://www.pexels.com/@markusspiske</a:t>
            </a:r>
            <a:endParaRPr b="0" lang="en-GB" sz="1000" spc="-1" strike="noStrike">
              <a:latin typeface="Arial"/>
            </a:endParaRPr>
          </a:p>
        </p:txBody>
      </p:sp>
    </p:spTree>
  </p:cSld>
  <p:transition spd="slow">
    <p:randomBar dir="vert"/>
  </p:transition>
  <p:timing>
    <p:tnLst>
      <p:par>
        <p:cTn id="7" dur="indefinite" restart="never" nodeType="tmRoot">
          <p:childTnLst>
            <p:seq>
              <p:cTn id="8" dur="indefinite"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1"/>
          <a:stretch/>
        </p:blipFill>
        <p:spPr>
          <a:xfrm>
            <a:off x="0" y="3857760"/>
            <a:ext cx="9143640" cy="4781160"/>
          </a:xfrm>
          <a:prstGeom prst="rect">
            <a:avLst/>
          </a:prstGeom>
          <a:ln>
            <a:noFill/>
          </a:ln>
        </p:spPr>
      </p:pic>
      <p:sp>
        <p:nvSpPr>
          <p:cNvPr id="53" name="CustomShape 1"/>
          <p:cNvSpPr/>
          <p:nvPr/>
        </p:nvSpPr>
        <p:spPr>
          <a:xfrm>
            <a:off x="571680" y="285840"/>
            <a:ext cx="828648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Tags and attributes</a:t>
            </a:r>
            <a:endParaRPr b="0" lang="en-GB" sz="3200" spc="-1" strike="noStrike">
              <a:latin typeface="Arial"/>
            </a:endParaRPr>
          </a:p>
        </p:txBody>
      </p:sp>
      <p:sp>
        <p:nvSpPr>
          <p:cNvPr id="54" name="CustomShape 2"/>
          <p:cNvSpPr/>
          <p:nvPr/>
        </p:nvSpPr>
        <p:spPr>
          <a:xfrm>
            <a:off x="571680" y="1428840"/>
            <a:ext cx="8286480" cy="203796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Attributes add additional information to tags. </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Their format is attributename=”attributevalue”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For 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&lt;p background-colour=”red”&gt;This is a paragraph which will be red&lt;/p&gt;</a:t>
            </a:r>
            <a:endParaRPr b="0" lang="en-GB" sz="1600" spc="-1" strike="noStrike">
              <a:latin typeface="Arial"/>
            </a:endParaRPr>
          </a:p>
          <a:p>
            <a:pPr>
              <a:lnSpc>
                <a:spcPct val="100000"/>
              </a:lnSpc>
            </a:pPr>
            <a:r>
              <a:rPr b="0" lang="en-GB" sz="1600" spc="-1" strike="noStrike">
                <a:solidFill>
                  <a:srgbClr val="000000"/>
                </a:solidFill>
                <a:latin typeface="Arial"/>
              </a:rPr>
              <a:t>&lt;p&gt;This is another paragraph&lt;/p&gt;</a:t>
            </a:r>
            <a:endParaRPr b="0" lang="en-GB" sz="1600" spc="-1" strike="noStrike">
              <a:latin typeface="Arial"/>
            </a:endParaRPr>
          </a:p>
        </p:txBody>
      </p:sp>
      <p:sp>
        <p:nvSpPr>
          <p:cNvPr id="55"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Markus Spiske</a:t>
            </a:r>
            <a:endParaRPr b="0" lang="en-GB" sz="1000" spc="-1" strike="noStrike">
              <a:latin typeface="Arial"/>
            </a:endParaRPr>
          </a:p>
          <a:p>
            <a:pPr>
              <a:lnSpc>
                <a:spcPct val="100000"/>
              </a:lnSpc>
            </a:pPr>
            <a:r>
              <a:rPr b="0" lang="en-GB" sz="1000" spc="-1" strike="noStrike">
                <a:solidFill>
                  <a:srgbClr val="000000"/>
                </a:solidFill>
                <a:latin typeface="Arial"/>
              </a:rPr>
              <a:t>https://www.pexels.com/@markusspiske</a:t>
            </a:r>
            <a:endParaRPr b="0" lang="en-GB" sz="1000" spc="-1" strike="noStrike">
              <a:latin typeface="Arial"/>
            </a:endParaRPr>
          </a:p>
        </p:txBody>
      </p:sp>
    </p:spTree>
  </p:cSld>
  <p:transition spd="slow">
    <p:randomBar dir="vert"/>
  </p:transition>
  <p:timing>
    <p:tnLst>
      <p:par>
        <p:cTn id="9" dur="indefinite" restart="never" nodeType="tmRoot">
          <p:childTnLst>
            <p:seq>
              <p:cTn id="10" dur="indefinite"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 descr=""/>
          <p:cNvPicPr/>
          <p:nvPr/>
        </p:nvPicPr>
        <p:blipFill>
          <a:blip r:embed="rId1"/>
          <a:stretch/>
        </p:blipFill>
        <p:spPr>
          <a:xfrm>
            <a:off x="-1714680" y="0"/>
            <a:ext cx="3428640" cy="5143320"/>
          </a:xfrm>
          <a:prstGeom prst="rect">
            <a:avLst/>
          </a:prstGeom>
          <a:ln>
            <a:noFill/>
          </a:ln>
        </p:spPr>
      </p:pic>
      <p:sp>
        <p:nvSpPr>
          <p:cNvPr id="57" name="CustomShape 1"/>
          <p:cNvSpPr/>
          <p:nvPr/>
        </p:nvSpPr>
        <p:spPr>
          <a:xfrm>
            <a:off x="2286000" y="285840"/>
            <a:ext cx="609552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Headings and Paragraphs</a:t>
            </a:r>
            <a:endParaRPr b="0" lang="en-GB" sz="3200" spc="-1" strike="noStrike">
              <a:latin typeface="Arial"/>
            </a:endParaRPr>
          </a:p>
        </p:txBody>
      </p:sp>
      <p:sp>
        <p:nvSpPr>
          <p:cNvPr id="58" name="CustomShape 2"/>
          <p:cNvSpPr/>
          <p:nvPr/>
        </p:nvSpPr>
        <p:spPr>
          <a:xfrm>
            <a:off x="2286000" y="936000"/>
            <a:ext cx="6095520" cy="398556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HTML offers six levels of headings, from &lt;h1&gt; to &lt;h6&gt;, each representing different levels of importance. Headings help structure your content and assist with search engine optimization. Paragraphs, denoted by the &lt;p&gt; tag, allow you to write and structure text within your web pages.</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200" spc="-1" strike="noStrike">
                <a:solidFill>
                  <a:srgbClr val="000000"/>
                </a:solidFill>
                <a:latin typeface="Arial"/>
              </a:rPr>
              <a:t>&lt;body&gt;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&lt;h1&gt;Main Heading (Level 1)&lt;/h1&gt;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&lt;p&gt;This is the main content of the page.&lt;/p&gt;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&lt;h2&gt;Subheading (Level 2)&lt;/h2&gt;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&lt;p&gt;Additional text for the subheading.&lt;/p&gt;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&lt;h3&gt;Sub-subheading (Level 3)&lt;/h3&gt;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&lt;p&gt;More text for the sub-subheading.&lt;/p&gt;</a:t>
            </a:r>
            <a:endParaRPr b="0" lang="en-GB" sz="1200" spc="-1" strike="noStrike">
              <a:latin typeface="Arial"/>
            </a:endParaRPr>
          </a:p>
          <a:p>
            <a:pPr>
              <a:lnSpc>
                <a:spcPct val="100000"/>
              </a:lnSpc>
            </a:pPr>
            <a:r>
              <a:rPr b="0" lang="en-GB" sz="1200" spc="-1" strike="noStrike">
                <a:solidFill>
                  <a:srgbClr val="000000"/>
                </a:solidFill>
                <a:latin typeface="Arial"/>
              </a:rPr>
              <a:t>&lt;/body&gt;</a:t>
            </a:r>
            <a:endParaRPr b="0" lang="en-GB" sz="1200" spc="-1" strike="noStrike">
              <a:latin typeface="Arial"/>
            </a:endParaRPr>
          </a:p>
          <a:p>
            <a:pPr>
              <a:lnSpc>
                <a:spcPct val="100000"/>
              </a:lnSpc>
            </a:pPr>
            <a:endParaRPr b="0" lang="en-GB" sz="1200" spc="-1" strike="noStrike">
              <a:latin typeface="Arial"/>
            </a:endParaRPr>
          </a:p>
          <a:p>
            <a:pPr>
              <a:lnSpc>
                <a:spcPct val="100000"/>
              </a:lnSpc>
            </a:pPr>
            <a:endParaRPr b="0" lang="en-GB" sz="1200" spc="-1" strike="noStrike">
              <a:latin typeface="Arial"/>
            </a:endParaRPr>
          </a:p>
        </p:txBody>
      </p:sp>
      <p:sp>
        <p:nvSpPr>
          <p:cNvPr id="59"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Lukas</a:t>
            </a:r>
            <a:endParaRPr b="0" lang="en-GB" sz="1000" spc="-1" strike="noStrike">
              <a:latin typeface="Arial"/>
            </a:endParaRPr>
          </a:p>
          <a:p>
            <a:pPr>
              <a:lnSpc>
                <a:spcPct val="100000"/>
              </a:lnSpc>
            </a:pPr>
            <a:r>
              <a:rPr b="0" lang="en-GB" sz="1000" spc="-1" strike="noStrike">
                <a:solidFill>
                  <a:srgbClr val="000000"/>
                </a:solidFill>
                <a:latin typeface="Arial"/>
              </a:rPr>
              <a:t>https://www.pexels.com/@goumbik</a:t>
            </a:r>
            <a:endParaRPr b="0" lang="en-GB" sz="1000" spc="-1" strike="noStrike">
              <a:latin typeface="Arial"/>
            </a:endParaRPr>
          </a:p>
        </p:txBody>
      </p:sp>
    </p:spTree>
  </p:cSld>
  <p:transition spd="slow">
    <p:push dir="r"/>
  </p:transition>
  <p:timing>
    <p:tnLst>
      <p:par>
        <p:cTn id="11" dur="indefinite" restart="never" nodeType="tmRoot">
          <p:childTnLst>
            <p:seq>
              <p:cTn id="12" dur="indefinite"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1"/>
          <a:stretch/>
        </p:blipFill>
        <p:spPr>
          <a:xfrm>
            <a:off x="7429680" y="0"/>
            <a:ext cx="3428640" cy="5143320"/>
          </a:xfrm>
          <a:prstGeom prst="rect">
            <a:avLst/>
          </a:prstGeom>
          <a:ln>
            <a:noFill/>
          </a:ln>
        </p:spPr>
      </p:pic>
      <p:sp>
        <p:nvSpPr>
          <p:cNvPr id="61" name="CustomShape 1"/>
          <p:cNvSpPr/>
          <p:nvPr/>
        </p:nvSpPr>
        <p:spPr>
          <a:xfrm>
            <a:off x="571680" y="285840"/>
            <a:ext cx="4571640" cy="106668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Hyperlinks and Anchors</a:t>
            </a:r>
            <a:endParaRPr b="0" lang="en-GB" sz="3200" spc="-1" strike="noStrike">
              <a:latin typeface="Arial"/>
            </a:endParaRPr>
          </a:p>
        </p:txBody>
      </p:sp>
      <p:sp>
        <p:nvSpPr>
          <p:cNvPr id="62" name="CustomShape 2"/>
          <p:cNvSpPr/>
          <p:nvPr/>
        </p:nvSpPr>
        <p:spPr>
          <a:xfrm>
            <a:off x="571680" y="1428840"/>
            <a:ext cx="4571640" cy="343800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Hyperlinks, created with the &lt;a&gt; tag, enable you to link web pages, documents, or specific parts of a webpage together. By using anchors, identified through the &lt;a&gt; tag together with the href attribute, users can easily navigate within a webpage. Understanding how to create and utilize hyperlinks is crucial for effective webpage navigation.</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200" spc="-1" strike="noStrike">
                <a:solidFill>
                  <a:srgbClr val="000000"/>
                </a:solidFill>
                <a:latin typeface="Arial"/>
              </a:rPr>
              <a:t>&lt;a href="page1.html"&gt;Link to Page 1&lt;/a&gt;</a:t>
            </a:r>
            <a:endParaRPr b="0" lang="en-GB" sz="1200" spc="-1" strike="noStrike">
              <a:latin typeface="Arial"/>
            </a:endParaRPr>
          </a:p>
          <a:p>
            <a:pPr>
              <a:lnSpc>
                <a:spcPct val="100000"/>
              </a:lnSpc>
            </a:pPr>
            <a:endParaRPr b="0" lang="en-GB" sz="1200" spc="-1" strike="noStrike">
              <a:latin typeface="Arial"/>
            </a:endParaRPr>
          </a:p>
          <a:p>
            <a:pPr>
              <a:lnSpc>
                <a:spcPct val="100000"/>
              </a:lnSpc>
            </a:pPr>
            <a:endParaRPr b="0" lang="en-GB" sz="1200" spc="-1" strike="noStrike">
              <a:latin typeface="Arial"/>
            </a:endParaRPr>
          </a:p>
        </p:txBody>
      </p:sp>
      <p:sp>
        <p:nvSpPr>
          <p:cNvPr id="63"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Alexander Ant</a:t>
            </a:r>
            <a:endParaRPr b="0" lang="en-GB" sz="1000" spc="-1" strike="noStrike">
              <a:latin typeface="Arial"/>
            </a:endParaRPr>
          </a:p>
          <a:p>
            <a:pPr>
              <a:lnSpc>
                <a:spcPct val="100000"/>
              </a:lnSpc>
            </a:pPr>
            <a:r>
              <a:rPr b="0" lang="en-GB" sz="1000" spc="-1" strike="noStrike">
                <a:solidFill>
                  <a:srgbClr val="000000"/>
                </a:solidFill>
                <a:latin typeface="Arial"/>
              </a:rPr>
              <a:t>https://www.pexels.com/@alexant</a:t>
            </a:r>
            <a:endParaRPr b="0" lang="en-GB" sz="1000" spc="-1" strike="noStrike">
              <a:latin typeface="Arial"/>
            </a:endParaRPr>
          </a:p>
        </p:txBody>
      </p:sp>
    </p:spTree>
  </p:cSld>
  <p:transition>
    <p:split dir="in" orient="horz"/>
  </p:transition>
  <p:timing>
    <p:tnLst>
      <p:par>
        <p:cTn id="13" dur="indefinite" restart="never" nodeType="tmRoot">
          <p:childTnLst>
            <p:seq>
              <p:cTn id="14" dur="indefinite"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1"/>
          <a:stretch/>
        </p:blipFill>
        <p:spPr>
          <a:xfrm>
            <a:off x="-1714680" y="0"/>
            <a:ext cx="3428640" cy="5143320"/>
          </a:xfrm>
          <a:prstGeom prst="rect">
            <a:avLst/>
          </a:prstGeom>
          <a:ln>
            <a:noFill/>
          </a:ln>
        </p:spPr>
      </p:pic>
      <p:sp>
        <p:nvSpPr>
          <p:cNvPr id="65" name="CustomShape 1"/>
          <p:cNvSpPr/>
          <p:nvPr/>
        </p:nvSpPr>
        <p:spPr>
          <a:xfrm>
            <a:off x="2286000" y="285840"/>
            <a:ext cx="609552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Lists and Formatting</a:t>
            </a:r>
            <a:endParaRPr b="0" lang="en-GB" sz="3200" spc="-1" strike="noStrike">
              <a:latin typeface="Arial"/>
            </a:endParaRPr>
          </a:p>
        </p:txBody>
      </p:sp>
      <p:sp>
        <p:nvSpPr>
          <p:cNvPr id="66" name="CustomShape 2"/>
          <p:cNvSpPr/>
          <p:nvPr/>
        </p:nvSpPr>
        <p:spPr>
          <a:xfrm>
            <a:off x="2184480" y="993240"/>
            <a:ext cx="6095520" cy="307296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HTML provides ordered lists (&lt;ol&gt;), unordered lists (&lt;ul&gt;), and definition lists (&lt;dl&gt;), which allow you to present information in a structured format. Lists can be further customized using CSS and various formatting options, including indentation and numbering styles. Proper use of lists enhances the readability and organization of your content.</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    </a:t>
            </a:r>
            <a:r>
              <a:rPr b="0" lang="en-GB" sz="1200" spc="-1" strike="noStrike">
                <a:solidFill>
                  <a:srgbClr val="000000"/>
                </a:solidFill>
                <a:latin typeface="Arial"/>
              </a:rPr>
              <a:t>&lt;ul&gt;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&lt;li&gt;&lt;a href="page1.html"&gt;Link to Page 1&lt;/a&gt;&lt;/li&gt;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&lt;li&gt;&lt;a href="page2.html"&gt;Link to Page 2&lt;/a&gt;&lt;/li&gt;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&lt;/ul&gt;</a:t>
            </a:r>
            <a:endParaRPr b="0" lang="en-GB" sz="1200" spc="-1" strike="noStrike">
              <a:latin typeface="Arial"/>
            </a:endParaRPr>
          </a:p>
        </p:txBody>
      </p:sp>
      <p:sp>
        <p:nvSpPr>
          <p:cNvPr id="67"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Dominika Roseclay</a:t>
            </a:r>
            <a:endParaRPr b="0" lang="en-GB" sz="1000" spc="-1" strike="noStrike">
              <a:latin typeface="Arial"/>
            </a:endParaRPr>
          </a:p>
          <a:p>
            <a:pPr>
              <a:lnSpc>
                <a:spcPct val="100000"/>
              </a:lnSpc>
            </a:pPr>
            <a:r>
              <a:rPr b="0" lang="en-GB" sz="1000" spc="-1" strike="noStrike">
                <a:solidFill>
                  <a:srgbClr val="000000"/>
                </a:solidFill>
                <a:latin typeface="Arial"/>
              </a:rPr>
              <a:t>https://www.pexels.com/@punchbrandstock</a:t>
            </a:r>
            <a:endParaRPr b="0" lang="en-GB" sz="1000" spc="-1" strike="noStrike">
              <a:latin typeface="Arial"/>
            </a:endParaRPr>
          </a:p>
        </p:txBody>
      </p:sp>
    </p:spTree>
  </p:cSld>
  <p:transition>
    <p:wipe dir="d"/>
  </p:transition>
  <p:timing>
    <p:tnLst>
      <p:par>
        <p:cTn id="15" dur="indefinite" restart="never" nodeType="tmRoot">
          <p:childTnLst>
            <p:seq>
              <p:cTn id="16" dur="indefinite"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CustomShape 1"/>
          <p:cNvSpPr/>
          <p:nvPr/>
        </p:nvSpPr>
        <p:spPr>
          <a:xfrm>
            <a:off x="571680" y="285840"/>
            <a:ext cx="8000640" cy="579240"/>
          </a:xfrm>
          <a:prstGeom prst="rect">
            <a:avLst/>
          </a:prstGeom>
          <a:noFill/>
          <a:ln>
            <a:noFill/>
          </a:ln>
        </p:spPr>
        <p:style>
          <a:lnRef idx="0"/>
          <a:fillRef idx="0"/>
          <a:effectRef idx="0"/>
          <a:fontRef idx="minor"/>
        </p:style>
        <p:txBody>
          <a:bodyPr/>
          <a:p>
            <a:pPr algn="ctr">
              <a:lnSpc>
                <a:spcPct val="100000"/>
              </a:lnSpc>
            </a:pPr>
            <a:r>
              <a:rPr b="1" lang="en-GB" sz="3200" spc="-1" strike="noStrike">
                <a:solidFill>
                  <a:srgbClr val="9e9e9e"/>
                </a:solidFill>
                <a:latin typeface="Arial"/>
              </a:rPr>
              <a:t>Images and Multimedia</a:t>
            </a:r>
            <a:endParaRPr b="0" lang="en-GB" sz="3200" spc="-1" strike="noStrike">
              <a:latin typeface="Arial"/>
            </a:endParaRPr>
          </a:p>
        </p:txBody>
      </p:sp>
      <p:sp>
        <p:nvSpPr>
          <p:cNvPr id="69" name="CustomShape 2"/>
          <p:cNvSpPr/>
          <p:nvPr/>
        </p:nvSpPr>
        <p:spPr>
          <a:xfrm>
            <a:off x="571680" y="1428840"/>
            <a:ext cx="8286480" cy="270792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Incorporating images, videos, and audio files into web pages broadens their appeal and enhances engagement. By using the &lt;img&gt; tag and the src attribute, you can embed images, while the &lt;video&gt; and &lt;audio&gt; tags facilitate the inclusion of videos and audio files. Understanding how to correctly insert and format media content is essential for effective web design.</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    </a:t>
            </a:r>
            <a:r>
              <a:rPr b="0" lang="en-GB" sz="1200" spc="-1" strike="noStrike">
                <a:solidFill>
                  <a:srgbClr val="000000"/>
                </a:solidFill>
                <a:latin typeface="Arial"/>
              </a:rPr>
              <a:t>&lt;h1&gt;Beautiful Sunset&lt;/h1&gt;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&lt;img src="sunset.jpg" alt="A beautiful sunset"&gt;</a:t>
            </a:r>
            <a:endParaRPr b="0" lang="en-GB" sz="1200" spc="-1" strike="noStrike">
              <a:latin typeface="Arial"/>
            </a:endParaRPr>
          </a:p>
          <a:p>
            <a:pPr>
              <a:lnSpc>
                <a:spcPct val="100000"/>
              </a:lnSpc>
            </a:pPr>
            <a:endParaRPr b="0" lang="en-GB" sz="1200" spc="-1" strike="noStrike">
              <a:latin typeface="Arial"/>
            </a:endParaRPr>
          </a:p>
        </p:txBody>
      </p:sp>
    </p:spTree>
  </p:cSld>
  <p:transition>
    <p:fade/>
  </p:transition>
  <p:timing>
    <p:tnLst>
      <p:par>
        <p:cTn id="17" dur="indefinite" restart="never" nodeType="tmRoot">
          <p:childTnLst>
            <p:seq>
              <p:cTn id="18" dur="indefinite"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 descr=""/>
          <p:cNvPicPr/>
          <p:nvPr/>
        </p:nvPicPr>
        <p:blipFill>
          <a:blip r:embed="rId1"/>
          <a:stretch/>
        </p:blipFill>
        <p:spPr>
          <a:xfrm>
            <a:off x="7429680" y="0"/>
            <a:ext cx="3428640" cy="5143320"/>
          </a:xfrm>
          <a:prstGeom prst="rect">
            <a:avLst/>
          </a:prstGeom>
          <a:ln>
            <a:noFill/>
          </a:ln>
        </p:spPr>
      </p:pic>
      <p:sp>
        <p:nvSpPr>
          <p:cNvPr id="71" name="CustomShape 1"/>
          <p:cNvSpPr/>
          <p:nvPr/>
        </p:nvSpPr>
        <p:spPr>
          <a:xfrm>
            <a:off x="571680" y="285840"/>
            <a:ext cx="457164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Forms</a:t>
            </a:r>
            <a:endParaRPr b="0" lang="en-GB" sz="3200" spc="-1" strike="noStrike">
              <a:latin typeface="Arial"/>
            </a:endParaRPr>
          </a:p>
        </p:txBody>
      </p:sp>
      <p:sp>
        <p:nvSpPr>
          <p:cNvPr id="72" name="CustomShape 2"/>
          <p:cNvSpPr/>
          <p:nvPr/>
        </p:nvSpPr>
        <p:spPr>
          <a:xfrm>
            <a:off x="612360" y="1094760"/>
            <a:ext cx="4571640" cy="392400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Forms, created using the &lt;form&gt; tag, enable users to input data and interact with webpages. The proper use of tables and forms is essential for user interaction and data presentation.</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200" spc="-1" strike="noStrike">
                <a:solidFill>
                  <a:srgbClr val="000000"/>
                </a:solidFill>
                <a:latin typeface="Arial"/>
              </a:rPr>
              <a:t>&lt;form&gt;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&lt;label for="name"&gt;Name:&lt;/label&gt;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&lt;input type="text" id="name" name="name"&gt;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&lt;br&gt;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&lt;label for="email"&gt;Email:&lt;/label&gt;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&lt;input type="email" id="email" name="email"&gt;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&lt;br&gt;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&lt;input type="submit" value="Submit"&gt;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&lt;/form&gt;</a:t>
            </a:r>
            <a:endParaRPr b="0" lang="en-GB" sz="1200" spc="-1" strike="noStrike">
              <a:latin typeface="Arial"/>
            </a:endParaRPr>
          </a:p>
          <a:p>
            <a:pPr>
              <a:lnSpc>
                <a:spcPct val="100000"/>
              </a:lnSpc>
            </a:pPr>
            <a:endParaRPr b="0" lang="en-GB" sz="1200" spc="-1" strike="noStrike">
              <a:latin typeface="Arial"/>
            </a:endParaRPr>
          </a:p>
          <a:p>
            <a:pPr>
              <a:lnSpc>
                <a:spcPct val="100000"/>
              </a:lnSpc>
            </a:pPr>
            <a:endParaRPr b="0" lang="en-GB" sz="1200" spc="-1" strike="noStrike">
              <a:latin typeface="Arial"/>
            </a:endParaRPr>
          </a:p>
        </p:txBody>
      </p:sp>
      <p:sp>
        <p:nvSpPr>
          <p:cNvPr id="73"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Polina Tankilevitch</a:t>
            </a:r>
            <a:endParaRPr b="0" lang="en-GB" sz="1000" spc="-1" strike="noStrike">
              <a:latin typeface="Arial"/>
            </a:endParaRPr>
          </a:p>
          <a:p>
            <a:pPr>
              <a:lnSpc>
                <a:spcPct val="100000"/>
              </a:lnSpc>
            </a:pPr>
            <a:r>
              <a:rPr b="0" lang="en-GB" sz="1000" spc="-1" strike="noStrike">
                <a:solidFill>
                  <a:srgbClr val="000000"/>
                </a:solidFill>
                <a:latin typeface="Arial"/>
              </a:rPr>
              <a:t>https://www.pexels.com/@polina-tankilevitch</a:t>
            </a:r>
            <a:endParaRPr b="0" lang="en-GB" sz="1000" spc="-1" strike="noStrike">
              <a:latin typeface="Arial"/>
            </a:endParaRPr>
          </a:p>
        </p:txBody>
      </p:sp>
    </p:spTree>
  </p:cSld>
  <p:transition spd="slow">
    <p:random/>
  </p:transition>
  <p:timing>
    <p:tnLst>
      <p:par>
        <p:cTn id="19" dur="indefinite" restart="never" nodeType="tmRoot">
          <p:childTnLst>
            <p:seq>
              <p:cTn id="20" dur="indefinite"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 descr=""/>
          <p:cNvPicPr/>
          <p:nvPr/>
        </p:nvPicPr>
        <p:blipFill>
          <a:blip r:embed="rId1"/>
          <a:stretch/>
        </p:blipFill>
        <p:spPr>
          <a:xfrm>
            <a:off x="7429680" y="0"/>
            <a:ext cx="3428640" cy="5143320"/>
          </a:xfrm>
          <a:prstGeom prst="rect">
            <a:avLst/>
          </a:prstGeom>
          <a:ln>
            <a:noFill/>
          </a:ln>
        </p:spPr>
      </p:pic>
      <p:sp>
        <p:nvSpPr>
          <p:cNvPr id="75" name="CustomShape 1"/>
          <p:cNvSpPr/>
          <p:nvPr/>
        </p:nvSpPr>
        <p:spPr>
          <a:xfrm>
            <a:off x="540360" y="500760"/>
            <a:ext cx="457164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Tables</a:t>
            </a:r>
            <a:endParaRPr b="0" lang="en-GB" sz="3200" spc="-1" strike="noStrike">
              <a:latin typeface="Arial"/>
            </a:endParaRPr>
          </a:p>
        </p:txBody>
      </p:sp>
      <p:sp>
        <p:nvSpPr>
          <p:cNvPr id="76" name="CustomShape 2"/>
          <p:cNvSpPr/>
          <p:nvPr/>
        </p:nvSpPr>
        <p:spPr>
          <a:xfrm>
            <a:off x="4068360" y="302760"/>
            <a:ext cx="2483640" cy="4593240"/>
          </a:xfrm>
          <a:prstGeom prst="rect">
            <a:avLst/>
          </a:prstGeom>
          <a:noFill/>
          <a:ln>
            <a:noFill/>
          </a:ln>
        </p:spPr>
        <p:style>
          <a:lnRef idx="0"/>
          <a:fillRef idx="0"/>
          <a:effectRef idx="0"/>
          <a:fontRef idx="minor"/>
        </p:style>
        <p:txBody>
          <a:bodyPr/>
          <a:p>
            <a:pPr>
              <a:lnSpc>
                <a:spcPct val="100000"/>
              </a:lnSpc>
            </a:pPr>
            <a:endParaRPr b="0" lang="en-GB" sz="1800" spc="-1" strike="noStrike">
              <a:latin typeface="Arial"/>
            </a:endParaRPr>
          </a:p>
          <a:p>
            <a:pPr>
              <a:lnSpc>
                <a:spcPct val="100000"/>
              </a:lnSpc>
            </a:pPr>
            <a:endParaRPr b="0" lang="en-GB" sz="1800" spc="-1" strike="noStrike">
              <a:latin typeface="Arial"/>
            </a:endParaRPr>
          </a:p>
          <a:p>
            <a:pPr>
              <a:lnSpc>
                <a:spcPct val="100000"/>
              </a:lnSpc>
            </a:pPr>
            <a:r>
              <a:rPr b="0" lang="en-GB" sz="1600" spc="-1" strike="noStrike">
                <a:solidFill>
                  <a:srgbClr val="000000"/>
                </a:solidFill>
                <a:latin typeface="Arial"/>
              </a:rPr>
              <a:t>Example: </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200" spc="-1" strike="noStrike">
                <a:solidFill>
                  <a:srgbClr val="000000"/>
                </a:solidFill>
                <a:latin typeface="Arial"/>
              </a:rPr>
              <a:t>&lt;table border="1"&gt;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&lt;th&gt;Name&lt;/th&gt;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&lt;th&gt;Age&lt;/th&gt;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&lt;th&gt;Grade&lt;/th&gt;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&lt;td&gt;John&lt;/td&gt;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&lt;td&gt;20&lt;/td&gt;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&lt;td&gt;A&lt;/td&gt;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&lt;td&gt;Maria&lt;/td&gt;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&lt;td&gt;22&lt;/td&gt;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&lt;td&gt;B&lt;/td&gt;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&lt;/tr&gt;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&lt;/table&gt;</a:t>
            </a:r>
            <a:endParaRPr b="0" lang="en-GB" sz="1200" spc="-1" strike="noStrike">
              <a:latin typeface="Arial"/>
            </a:endParaRPr>
          </a:p>
          <a:p>
            <a:pPr>
              <a:lnSpc>
                <a:spcPct val="100000"/>
              </a:lnSpc>
            </a:pPr>
            <a:endParaRPr b="0" lang="en-GB" sz="1200" spc="-1" strike="noStrike">
              <a:latin typeface="Arial"/>
            </a:endParaRPr>
          </a:p>
          <a:p>
            <a:pPr>
              <a:lnSpc>
                <a:spcPct val="100000"/>
              </a:lnSpc>
            </a:pPr>
            <a:endParaRPr b="0" lang="en-GB" sz="1200" spc="-1" strike="noStrike">
              <a:latin typeface="Arial"/>
            </a:endParaRPr>
          </a:p>
        </p:txBody>
      </p:sp>
      <p:sp>
        <p:nvSpPr>
          <p:cNvPr id="77"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Polina Tankilevitch</a:t>
            </a:r>
            <a:endParaRPr b="0" lang="en-GB" sz="1000" spc="-1" strike="noStrike">
              <a:latin typeface="Arial"/>
            </a:endParaRPr>
          </a:p>
          <a:p>
            <a:pPr>
              <a:lnSpc>
                <a:spcPct val="100000"/>
              </a:lnSpc>
            </a:pPr>
            <a:r>
              <a:rPr b="0" lang="en-GB" sz="1000" spc="-1" strike="noStrike">
                <a:solidFill>
                  <a:srgbClr val="000000"/>
                </a:solidFill>
                <a:latin typeface="Arial"/>
              </a:rPr>
              <a:t>https://www.pexels.com/@polina-tankilevitch</a:t>
            </a:r>
            <a:endParaRPr b="0" lang="en-GB" sz="1000" spc="-1" strike="noStrike">
              <a:latin typeface="Arial"/>
            </a:endParaRPr>
          </a:p>
        </p:txBody>
      </p:sp>
      <p:sp>
        <p:nvSpPr>
          <p:cNvPr id="78" name="CustomShape 4"/>
          <p:cNvSpPr/>
          <p:nvPr/>
        </p:nvSpPr>
        <p:spPr>
          <a:xfrm>
            <a:off x="576000" y="1296000"/>
            <a:ext cx="2808000" cy="203868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Tables provide a way to display and organize data in a structured manner. HTML tables, constructed with the &lt;table&gt;, &lt;tr&gt;, &lt;th&gt;, and &lt;td&gt; tags, offer flexibility in terms of rows, columns, and formatting options. </a:t>
            </a:r>
            <a:endParaRPr b="0" lang="en-GB" sz="1600" spc="-1" strike="noStrike">
              <a:latin typeface="Arial"/>
            </a:endParaRPr>
          </a:p>
        </p:txBody>
      </p:sp>
    </p:spTree>
  </p:cSld>
  <p:transition spd="slow">
    <p:random/>
  </p:transition>
  <p:timing>
    <p:tnLst>
      <p:par>
        <p:cTn id="21" dur="indefinite" restart="never" nodeType="tmRoot">
          <p:childTnLst>
            <p:seq>
              <p:cTn id="22" dur="indefinite"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 descr=""/>
          <p:cNvPicPr/>
          <p:nvPr/>
        </p:nvPicPr>
        <p:blipFill>
          <a:blip r:embed="rId1"/>
          <a:stretch/>
        </p:blipFill>
        <p:spPr>
          <a:xfrm>
            <a:off x="-1714680" y="0"/>
            <a:ext cx="3428640" cy="5143320"/>
          </a:xfrm>
          <a:prstGeom prst="rect">
            <a:avLst/>
          </a:prstGeom>
          <a:ln>
            <a:noFill/>
          </a:ln>
        </p:spPr>
      </p:pic>
      <p:sp>
        <p:nvSpPr>
          <p:cNvPr id="80" name="CustomShape 1"/>
          <p:cNvSpPr/>
          <p:nvPr/>
        </p:nvSpPr>
        <p:spPr>
          <a:xfrm>
            <a:off x="2286000" y="285840"/>
            <a:ext cx="609552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Semantic HTML</a:t>
            </a:r>
            <a:endParaRPr b="0" lang="en-GB" sz="3200" spc="-1" strike="noStrike">
              <a:latin typeface="Arial"/>
            </a:endParaRPr>
          </a:p>
        </p:txBody>
      </p:sp>
      <p:sp>
        <p:nvSpPr>
          <p:cNvPr id="81" name="CustomShape 2"/>
          <p:cNvSpPr/>
          <p:nvPr/>
        </p:nvSpPr>
        <p:spPr>
          <a:xfrm>
            <a:off x="2286000" y="1428840"/>
            <a:ext cx="6095520" cy="155124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Semantic HTML tags convey meaning beyond just visual presentation. Tags such as &lt;header&gt;, &lt;nav&gt;, &lt;section&gt;, &lt;article&gt;, and &lt;footer&gt; provide a semantic structure to your webpage, enhancing accessibility, search engine optimization, and overall document structure. Utilizing semantic HTML helps improve both user experience and code readability.</a:t>
            </a:r>
            <a:endParaRPr b="0" lang="en-GB" sz="1600" spc="-1" strike="noStrike">
              <a:latin typeface="Arial"/>
            </a:endParaRPr>
          </a:p>
        </p:txBody>
      </p:sp>
      <p:sp>
        <p:nvSpPr>
          <p:cNvPr id="82"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cottonbro studio</a:t>
            </a:r>
            <a:endParaRPr b="0" lang="en-GB" sz="1000" spc="-1" strike="noStrike">
              <a:latin typeface="Arial"/>
            </a:endParaRPr>
          </a:p>
          <a:p>
            <a:pPr>
              <a:lnSpc>
                <a:spcPct val="100000"/>
              </a:lnSpc>
            </a:pPr>
            <a:r>
              <a:rPr b="0" lang="en-GB" sz="1000" spc="-1" strike="noStrike">
                <a:solidFill>
                  <a:srgbClr val="000000"/>
                </a:solidFill>
                <a:latin typeface="Arial"/>
              </a:rPr>
              <a:t>https://www.pexels.com/@cottonbro</a:t>
            </a:r>
            <a:endParaRPr b="0" lang="en-GB" sz="1000" spc="-1" strike="noStrike">
              <a:latin typeface="Arial"/>
            </a:endParaRPr>
          </a:p>
        </p:txBody>
      </p:sp>
    </p:spTree>
  </p:cSld>
  <p:transition spd="slow">
    <p:randomBar dir="vert"/>
  </p:transition>
  <p:timing>
    <p:tnLst>
      <p:par>
        <p:cTn id="23" dur="indefinite" restart="never" nodeType="tmRoot">
          <p:childTnLst>
            <p:seq>
              <p:cTn id="24" dur="indefinite"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CustomShape 1"/>
          <p:cNvSpPr/>
          <p:nvPr/>
        </p:nvSpPr>
        <p:spPr>
          <a:xfrm>
            <a:off x="571680" y="285840"/>
            <a:ext cx="828648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CSS and HTML Integration</a:t>
            </a:r>
            <a:endParaRPr b="0" lang="en-GB" sz="3200" spc="-1" strike="noStrike">
              <a:latin typeface="Arial"/>
            </a:endParaRPr>
          </a:p>
        </p:txBody>
      </p:sp>
      <p:sp>
        <p:nvSpPr>
          <p:cNvPr id="84" name="CustomShape 2"/>
          <p:cNvSpPr/>
          <p:nvPr/>
        </p:nvSpPr>
        <p:spPr>
          <a:xfrm>
            <a:off x="569520" y="1080000"/>
            <a:ext cx="8286480" cy="343800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Cascading Style Sheets (CSS) allow you to control the visual appearance of HTML elements. Styles can be defined in the head section of an HTML document or a separate file which allows for more consistent styling.  Elements, classes or ids can be targetted by a style.</a:t>
            </a:r>
            <a:endParaRPr b="0" lang="en-GB" sz="1600" spc="-1" strike="noStrike">
              <a:latin typeface="Arial"/>
            </a:endParaRPr>
          </a:p>
          <a:p>
            <a:pPr>
              <a:lnSpc>
                <a:spcPct val="100000"/>
              </a:lnSpc>
            </a:pPr>
            <a:endParaRPr b="0" lang="en-GB" sz="1600" spc="-1" strike="noStrike">
              <a:latin typeface="Arial"/>
            </a:endParaRPr>
          </a:p>
          <a:p>
            <a:pPr>
              <a:lnSpc>
                <a:spcPct val="100000"/>
              </a:lnSpc>
            </a:pPr>
            <a:r>
              <a:rPr b="0" lang="en-GB" sz="1600" spc="-1" strike="noStrike">
                <a:solidFill>
                  <a:srgbClr val="000000"/>
                </a:solidFill>
                <a:latin typeface="Arial"/>
              </a:rPr>
              <a:t>Example:</a:t>
            </a:r>
            <a:endParaRPr b="0" lang="en-GB" sz="1600" spc="-1" strike="noStrike">
              <a:latin typeface="Arial"/>
            </a:endParaRPr>
          </a:p>
          <a:p>
            <a:pPr>
              <a:lnSpc>
                <a:spcPct val="100000"/>
              </a:lnSpc>
            </a:pPr>
            <a:r>
              <a:rPr b="0" lang="en-GB" sz="1600" spc="-1" strike="noStrike">
                <a:solidFill>
                  <a:srgbClr val="000000"/>
                </a:solidFill>
                <a:latin typeface="Arial"/>
              </a:rPr>
              <a:t> </a:t>
            </a:r>
            <a:r>
              <a:rPr b="0" lang="en-GB" sz="1200" spc="-1" strike="noStrike">
                <a:solidFill>
                  <a:srgbClr val="000000"/>
                </a:solidFill>
                <a:latin typeface="Arial"/>
              </a:rPr>
              <a:t>&lt;style&gt;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body {</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font-family: 'Arial', sans-serif;</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background-color: #f2f2f2;</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margin: 20px;</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h1 {</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color: #0077cc;</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a:t>
            </a:r>
            <a:endParaRPr b="0" lang="en-GB" sz="1200" spc="-1" strike="noStrike">
              <a:latin typeface="Arial"/>
            </a:endParaRPr>
          </a:p>
          <a:p>
            <a:pPr>
              <a:lnSpc>
                <a:spcPct val="100000"/>
              </a:lnSpc>
            </a:pPr>
            <a:r>
              <a:rPr b="0" lang="en-GB" sz="1200" spc="-1" strike="noStrike">
                <a:solidFill>
                  <a:srgbClr val="000000"/>
                </a:solidFill>
                <a:latin typeface="Arial"/>
              </a:rPr>
              <a:t>    </a:t>
            </a:r>
            <a:r>
              <a:rPr b="0" lang="en-GB" sz="1200" spc="-1" strike="noStrike">
                <a:solidFill>
                  <a:srgbClr val="000000"/>
                </a:solidFill>
                <a:latin typeface="Arial"/>
              </a:rPr>
              <a:t>&lt;/style&gt;</a:t>
            </a:r>
            <a:endParaRPr b="0" lang="en-GB" sz="1200" spc="-1" strike="noStrike">
              <a:latin typeface="Arial"/>
            </a:endParaRPr>
          </a:p>
        </p:txBody>
      </p:sp>
      <p:sp>
        <p:nvSpPr>
          <p:cNvPr id="85"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Pixabay</a:t>
            </a:r>
            <a:endParaRPr b="0" lang="en-GB" sz="1000" spc="-1" strike="noStrike">
              <a:latin typeface="Arial"/>
            </a:endParaRPr>
          </a:p>
          <a:p>
            <a:pPr>
              <a:lnSpc>
                <a:spcPct val="100000"/>
              </a:lnSpc>
            </a:pPr>
            <a:r>
              <a:rPr b="0" lang="en-GB" sz="1000" spc="-1" strike="noStrike">
                <a:solidFill>
                  <a:srgbClr val="000000"/>
                </a:solidFill>
                <a:latin typeface="Arial"/>
              </a:rPr>
              <a:t>https://www.pexels.com/@pixabay</a:t>
            </a:r>
            <a:endParaRPr b="0" lang="en-GB" sz="1000" spc="-1" strike="noStrike">
              <a:latin typeface="Arial"/>
            </a:endParaRPr>
          </a:p>
        </p:txBody>
      </p:sp>
    </p:spTree>
  </p:cSld>
  <p:transition spd="slow">
    <p:random/>
  </p:transition>
  <p:timing>
    <p:tnLst>
      <p:par>
        <p:cTn id="25" dur="indefinite" restart="never" nodeType="tmRoot">
          <p:childTnLst>
            <p:seq>
              <p:cTn id="26" dur="indefinite"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 descr=""/>
          <p:cNvPicPr/>
          <p:nvPr/>
        </p:nvPicPr>
        <p:blipFill>
          <a:blip r:embed="rId1"/>
          <a:stretch/>
        </p:blipFill>
        <p:spPr>
          <a:xfrm>
            <a:off x="0" y="3857760"/>
            <a:ext cx="9143640" cy="4781160"/>
          </a:xfrm>
          <a:prstGeom prst="rect">
            <a:avLst/>
          </a:prstGeom>
          <a:ln>
            <a:noFill/>
          </a:ln>
        </p:spPr>
      </p:pic>
      <p:sp>
        <p:nvSpPr>
          <p:cNvPr id="87" name="CustomShape 1"/>
          <p:cNvSpPr/>
          <p:nvPr/>
        </p:nvSpPr>
        <p:spPr>
          <a:xfrm>
            <a:off x="571680" y="285840"/>
            <a:ext cx="8286480" cy="579240"/>
          </a:xfrm>
          <a:prstGeom prst="rect">
            <a:avLst/>
          </a:prstGeom>
          <a:noFill/>
          <a:ln>
            <a:noFill/>
          </a:ln>
        </p:spPr>
        <p:style>
          <a:lnRef idx="0"/>
          <a:fillRef idx="0"/>
          <a:effectRef idx="0"/>
          <a:fontRef idx="minor"/>
        </p:style>
        <p:txBody>
          <a:bodyPr/>
          <a:p>
            <a:pPr>
              <a:lnSpc>
                <a:spcPct val="100000"/>
              </a:lnSpc>
            </a:pPr>
            <a:r>
              <a:rPr b="1" lang="en-GB" sz="3200" spc="-1" strike="noStrike">
                <a:solidFill>
                  <a:srgbClr val="9e9e9e"/>
                </a:solidFill>
                <a:latin typeface="Arial"/>
              </a:rPr>
              <a:t>Web Standards and Accessibility</a:t>
            </a:r>
            <a:endParaRPr b="0" lang="en-GB" sz="3200" spc="-1" strike="noStrike">
              <a:latin typeface="Arial"/>
            </a:endParaRPr>
          </a:p>
        </p:txBody>
      </p:sp>
      <p:sp>
        <p:nvSpPr>
          <p:cNvPr id="88" name="CustomShape 2"/>
          <p:cNvSpPr/>
          <p:nvPr/>
        </p:nvSpPr>
        <p:spPr>
          <a:xfrm>
            <a:off x="571680" y="1428840"/>
            <a:ext cx="8286480" cy="1551240"/>
          </a:xfrm>
          <a:prstGeom prst="rect">
            <a:avLst/>
          </a:prstGeom>
          <a:noFill/>
          <a:ln>
            <a:noFill/>
          </a:ln>
        </p:spPr>
        <p:style>
          <a:lnRef idx="0"/>
          <a:fillRef idx="0"/>
          <a:effectRef idx="0"/>
          <a:fontRef idx="minor"/>
        </p:style>
        <p:txBody>
          <a:bodyPr/>
          <a:p>
            <a:pPr>
              <a:lnSpc>
                <a:spcPct val="100000"/>
              </a:lnSpc>
            </a:pPr>
            <a:r>
              <a:rPr b="0" lang="en-GB" sz="1600" spc="-1" strike="noStrike">
                <a:solidFill>
                  <a:srgbClr val="000000"/>
                </a:solidFill>
                <a:latin typeface="Arial"/>
              </a:rPr>
              <a:t>Adhering to web standards and ensuring accessibility is essential for creating inclusive and universally accessible web pages. Compliance with web standards improves cross-browser compatibility and ensures that your web content is functional on different devices. Additionally, incorporating accessibility features, such as alt text for images and proper semantic structure, enables individuals with disabilities to access and interact with your website effectively.</a:t>
            </a:r>
            <a:endParaRPr b="0" lang="en-GB" sz="1600" spc="-1" strike="noStrike">
              <a:latin typeface="Arial"/>
            </a:endParaRPr>
          </a:p>
        </p:txBody>
      </p:sp>
      <p:sp>
        <p:nvSpPr>
          <p:cNvPr id="89" name="CustomShape 3"/>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000000"/>
                </a:solidFill>
                <a:latin typeface="Arial"/>
              </a:rPr>
              <a:t>Image By Masood Aslami</a:t>
            </a:r>
            <a:endParaRPr b="0" lang="en-GB" sz="1000" spc="-1" strike="noStrike">
              <a:latin typeface="Arial"/>
            </a:endParaRPr>
          </a:p>
          <a:p>
            <a:pPr>
              <a:lnSpc>
                <a:spcPct val="100000"/>
              </a:lnSpc>
            </a:pPr>
            <a:r>
              <a:rPr b="0" lang="en-GB" sz="1000" spc="-1" strike="noStrike">
                <a:solidFill>
                  <a:srgbClr val="000000"/>
                </a:solidFill>
                <a:latin typeface="Arial"/>
              </a:rPr>
              <a:t>https://www.pexels.com/@masoodaslami</a:t>
            </a:r>
            <a:endParaRPr b="0" lang="en-GB" sz="1000" spc="-1" strike="noStrike">
              <a:latin typeface="Arial"/>
            </a:endParaRPr>
          </a:p>
        </p:txBody>
      </p:sp>
    </p:spTree>
  </p:cSld>
  <p:transition spd="slow">
    <p:cover dir="d"/>
  </p:transition>
  <p:timing>
    <p:tnLst>
      <p:par>
        <p:cTn id="27" dur="indefinite" restart="never" nodeType="tmRoot">
          <p:childTnLst>
            <p:seq>
              <p:cTn id="28" dur="indefinite"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tretch/>
        </p:blipFill>
        <p:spPr>
          <a:xfrm>
            <a:off x="5715000" y="0"/>
            <a:ext cx="3428640" cy="5143320"/>
          </a:xfrm>
          <a:prstGeom prst="rect">
            <a:avLst/>
          </a:prstGeom>
          <a:ln>
            <a:noFill/>
          </a:ln>
        </p:spPr>
      </p:pic>
      <p:sp>
        <p:nvSpPr>
          <p:cNvPr id="91" name="CustomShape 1"/>
          <p:cNvSpPr/>
          <p:nvPr/>
        </p:nvSpPr>
        <p:spPr>
          <a:xfrm>
            <a:off x="571680" y="2160000"/>
            <a:ext cx="4000320" cy="823320"/>
          </a:xfrm>
          <a:prstGeom prst="rect">
            <a:avLst/>
          </a:prstGeom>
          <a:noFill/>
          <a:ln>
            <a:noFill/>
          </a:ln>
        </p:spPr>
        <p:style>
          <a:lnRef idx="0"/>
          <a:fillRef idx="0"/>
          <a:effectRef idx="0"/>
          <a:fontRef idx="minor"/>
        </p:style>
        <p:txBody>
          <a:bodyPr anchor="ctr"/>
          <a:p>
            <a:pPr>
              <a:lnSpc>
                <a:spcPct val="100000"/>
              </a:lnSpc>
            </a:pPr>
            <a:r>
              <a:rPr b="1" lang="en-GB" sz="4800" spc="-1" strike="noStrike">
                <a:solidFill>
                  <a:srgbClr val="9e9e9e"/>
                </a:solidFill>
                <a:latin typeface="Arial"/>
              </a:rPr>
              <a:t>Thank You</a:t>
            </a:r>
            <a:endParaRPr b="0" lang="en-GB" sz="4800" spc="-1" strike="noStrike">
              <a:latin typeface="Arial"/>
            </a:endParaRPr>
          </a:p>
        </p:txBody>
      </p:sp>
      <p:sp>
        <p:nvSpPr>
          <p:cNvPr id="92" name="CustomShape 2"/>
          <p:cNvSpPr/>
          <p:nvPr/>
        </p:nvSpPr>
        <p:spPr>
          <a:xfrm>
            <a:off x="0" y="4746960"/>
            <a:ext cx="3047760" cy="396360"/>
          </a:xfrm>
          <a:prstGeom prst="rect">
            <a:avLst/>
          </a:prstGeom>
          <a:noFill/>
          <a:ln>
            <a:noFill/>
          </a:ln>
        </p:spPr>
        <p:style>
          <a:lnRef idx="0"/>
          <a:fillRef idx="0"/>
          <a:effectRef idx="0"/>
          <a:fontRef idx="minor"/>
        </p:style>
        <p:txBody>
          <a:bodyPr anchor="b"/>
          <a:p>
            <a:r>
              <a:rPr b="0" lang="en-GB" sz="1000" spc="-1" strike="noStrike">
                <a:solidFill>
                  <a:srgbClr val="9e9e9e"/>
                </a:solidFill>
                <a:latin typeface="Arial"/>
              </a:rPr>
              <a:t>Image By cottonbro studio</a:t>
            </a:r>
            <a:endParaRPr b="0" lang="en-GB" sz="1000" spc="-1" strike="noStrike">
              <a:latin typeface="Arial"/>
            </a:endParaRPr>
          </a:p>
          <a:p>
            <a:pPr>
              <a:lnSpc>
                <a:spcPct val="100000"/>
              </a:lnSpc>
            </a:pPr>
            <a:r>
              <a:rPr b="0" lang="en-GB" sz="1000" spc="-1" strike="noStrike">
                <a:solidFill>
                  <a:srgbClr val="9e9e9e"/>
                </a:solidFill>
                <a:latin typeface="Arial"/>
              </a:rPr>
              <a:t>https://www.pexels.com/@cottonbro</a:t>
            </a:r>
            <a:endParaRPr b="0" lang="en-GB" sz="1000" spc="-1" strike="noStrike">
              <a:latin typeface="Arial"/>
            </a:endParaRPr>
          </a:p>
        </p:txBody>
      </p:sp>
    </p:spTree>
  </p:cSld>
  <p:transition>
    <p:push dir="d"/>
  </p:transition>
  <p:timing>
    <p:tnLst>
      <p:par>
        <p:cTn id="29" dur="indefinite" restart="never" nodeType="tmRoot">
          <p:childTnLst>
            <p:seq>
              <p:cTn id="30"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LibreOffice/6.0.7.3$Linux_X86_64 LibreOffice_project/00m0$Build-3</Applicat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2024-01-19T10:52:15Z</dcterms:created>
  <dc:creator>Unknown Creator</dc:creator>
  <dc:description/>
  <dc:language>en-GB</dc:language>
  <cp:lastModifiedBy>lisa h</cp:lastModifiedBy>
  <dcterms:modified xsi:type="dcterms:W3CDTF">2024-01-19T17:12:00Z</dcterms:modified>
  <cp:revision>1</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Company">
    <vt:lpwstr>Microsoft Corporation</vt:lpwstr>
  </property>
  <property fmtid="{D5CDD505-2E9C-101B-9397-08002B2CF9AE}" pid="4" name="HyperlinksChanged">
    <vt:bool>0</vt:bool>
  </property>
  <property fmtid="{D5CDD505-2E9C-101B-9397-08002B2CF9AE}" pid="5" name="LinksUpToDate">
    <vt:bool>0</vt:bool>
  </property>
  <property fmtid="{D5CDD505-2E9C-101B-9397-08002B2CF9AE}" pid="6" name="ScaleCrop">
    <vt:bool>0</vt:bool>
  </property>
  <property fmtid="{D5CDD505-2E9C-101B-9397-08002B2CF9AE}" pid="7" name="ShareDoc">
    <vt:bool>0</vt:bool>
  </property>
  <property fmtid="{D5CDD505-2E9C-101B-9397-08002B2CF9AE}" pid="8" name="Slides">
    <vt:i4>12</vt:i4>
  </property>
</Properties>
</file>